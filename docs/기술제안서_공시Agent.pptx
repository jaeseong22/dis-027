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1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solidFill>
              <a:srgbClr val="1B2A5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5E"/>
                    </a:solidFill>
                    <a:latin typeface="Malgun Gothic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기준선</c:v>
                </c:pt>
                <c:pt idx="1">
                  <c:v>정본표 8종</c:v>
                </c:pt>
                <c:pt idx="2">
                  <c:v>보조 경로</c:v>
                </c:pt>
                <c:pt idx="3">
                  <c:v>오답 전수</c:v>
                </c:pt>
                <c:pt idx="4">
                  <c:v>정본표 34종</c:v>
                </c:pt>
                <c:pt idx="5">
                  <c:v>열 정렬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38.4</c:v>
                </c:pt>
                <c:pt idx="1">
                  <c:v>53.4</c:v>
                </c:pt>
                <c:pt idx="2">
                  <c:v>56.2</c:v>
                </c:pt>
                <c:pt idx="3">
                  <c:v>60.3</c:v>
                </c:pt>
                <c:pt idx="4">
                  <c:v>69.900000000000006</c:v>
                </c:pt>
                <c:pt idx="5">
                  <c:v>71.2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6A-F344-B3B3-203A2822D5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5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리포트 생성기가 아니라 근거 인용이 필수인 Q&amp;A 에이전트임을 먼저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기둥이 이 제안의 전부다.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범용 챗봇이 아니라 공시 전용 에이전트가 필요한지를 먼저 말한다. 좌는 규모, 우는 범용 모델의 한계다.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데이터가 어렵다는 것을 수치로 먼저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실패 모드에 대응 기법이 하나씩 붙는다.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계량하고 해결 결과도 계량했다. 왼쪽이 문제 규모, 오른쪽이 검증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정본표와 정정 체인이 핵심 기여다.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fail-closed의 가치를 실측으로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주최가 별도로 요구한 항목이라 한 장을 통째로 쓴다. 핵심은 추정하지 않는다는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아래에서 위로 읽는다. 코퍼스는 읽기 전용이고 외부 호출이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세 곳에서 갈리지만 모든 경로가 안전한 답으로 끝난다. 부재와 폐기도 정상 종료다.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라우팅과 관문이 이 흐름의 두 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HCX-005를 택한 이유 셋을 말한다. Function Calling이 이 구조의 전제 조건이다.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검증이 이 프로젝트의 중심이다. LLM 0회라 비용 없이 매번 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부재와 거절이 정상 답변과 같은 비중으로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옛 셋 97.4%는 과적합이라 새 셋 71.2%를 기준선으로 삼았다는 점을 반드시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선언으로 늘어난다는 점이 핵심. 각 축마다 실측 수치를 함께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부재가 이 에이전트의 성격이다.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8096" cy="1463040"/>
          </a:xfrm>
          <a:prstGeom prst="rect">
            <a:avLst/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8778240" y="5084064"/>
            <a:ext cx="731520" cy="310896"/>
          </a:xfrm>
          <a:prstGeom prst="rtTriangle">
            <a:avLst/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9509760" y="5084064"/>
            <a:ext cx="2688336" cy="310896"/>
          </a:xfrm>
          <a:prstGeom prst="rect">
            <a:avLst/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9509760" y="457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09760" y="786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" dirty="0">
                <a:solidFill>
                  <a:srgbClr val="5C7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제10회 미래에셋증권 AI Festival · 주제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24942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Agent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786384" y="34015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공시 코퍼스 위에서 동작하는 근거 인용 필수 자연어 Q&amp;A 에이전트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38770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결정론 코드가 확정하고, HyperCLOVA X는 서술만 쓴다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5870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기술제안서 · 2026-08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요약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41248" y="1481328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주최가 제공한 고정 코퍼스만 근거로, 자연어 질의에 접수번호까지 붙여 답하는 공시 Q&amp;A 에이전트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3547872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59536" y="2743200"/>
            <a:ext cx="475488" cy="475488"/>
          </a:xfrm>
          <a:prstGeom prst="ellipse">
            <a:avLst/>
          </a:prstGeom>
          <a:solidFill>
            <a:srgbClr val="F265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결정론이 먼저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3712464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수치는 코드가 확정한다.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34종이 섹션 경로와 셀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시그니처로 표를 하나로 고르고,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검증에 실패하면 값을 내지 않는다.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" y="5138928"/>
            <a:ext cx="292608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859536" y="5285232"/>
            <a:ext cx="64008" cy="20116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60704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34종 · 13종은 70/70사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2487168"/>
            <a:ext cx="3547872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4636008" y="2743200"/>
            <a:ext cx="475488" cy="475488"/>
          </a:xfrm>
          <a:prstGeom prst="ellipse">
            <a:avLst/>
          </a:prstGeom>
          <a:solidFill>
            <a:srgbClr val="00C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6008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서술만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36008" y="3712464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HyperCLOVA X는 도구를 고르고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쓴다. 나눗셈 · 단위 환산 ·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 세기 · 정정 연결은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코드가 한다.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36008" y="5138928"/>
            <a:ext cx="292608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4636008" y="5285232"/>
            <a:ext cx="64008" cy="201168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4837176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12종 · 수치는 코드가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2487168"/>
            <a:ext cx="3547872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412480" y="2743200"/>
            <a:ext cx="475488" cy="475488"/>
          </a:xfrm>
          <a:prstGeom prst="ellipse">
            <a:avLst/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없으면 답 없음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12480" y="3712464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답변은 단일 검증 관문을 지난다.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0회 사실 주장 · 밸류에이션 ·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이탈을 그 자리에서 막는다.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5138928"/>
            <a:ext cx="292608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8412480" y="5285232"/>
            <a:ext cx="64008" cy="201168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13648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유출 0/40 · 금지 6/6 거절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① 왜 공시 에이전트인가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공시는 투자 판단의 1차 자료다 — 그런데 읽을 수가 없다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1100816" cy="749808"/>
          </a:xfrm>
          <a:prstGeom prst="roundRect">
            <a:avLst>
              <a:gd name="adj" fmla="val 12195"/>
            </a:avLst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41248" y="166420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70개사 · 시가총액 4,214조원의 4년치 공시가 코퍼스에 있다. 답은 그 안에 있지만, 어느 문서 · 어느 절 · 어느 표 · 어느 열인지를 먼저 찾아야 한다.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5431536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5431536" cy="420624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41248" y="26151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읽을 수 없다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323,768자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36027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한 건의 본문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(정기공시 중앙값)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1,335개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56432" y="36027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하나에 실린 표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(정기공시 중앙값)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42611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4,204건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" y="4663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70개사 4년치 원문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5.5 GB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42611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22,980건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56432" y="4663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목록 전체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보유는 18.3%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615184"/>
            <a:ext cx="5431536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217920" y="2615184"/>
            <a:ext cx="5431536" cy="42062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510528" y="26151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LLM으로는 답할 수 없다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10528" y="3246120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711696" y="31638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댈 수 없다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316382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접수번호 · 보고서명을 인용하지 못한다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0528" y="3675888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711696" y="3593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고르지 못한다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69680" y="359359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연결과 별도가 섞인 채로 답한다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10528" y="4105656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6711696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정정을 모른다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69680" y="402336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거래소공시는 43%가 정정본이다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4535424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711696" y="4453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자릿수가 틀린다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69680" y="445312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· 천원 · 백만원 · 십억원이 한 표에 섞인다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10528" y="4965192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6711696" y="4882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것을 지어낸다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69680" y="488289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목록에만 있고 원문이 없는 유형이 8,664건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94560" y="5632704"/>
            <a:ext cx="7772400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2194560" y="5742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</a:t>
            </a:r>
            <a:r>
              <a:rPr lang="en-US" sz="14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코퍼스에 갇히고 · 근거를 반드시 대고 · 수치를 코드가 확정하는</a:t>
            </a:r>
            <a:r>
              <a:rPr lang="en-US" sz="1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② 데이터 특성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파서로는 열리지 않는 원문 — 코퍼스 4,616 XML 전수 실측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1219810" cy="23774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 flipV="1">
            <a:off x="1768450" y="1719072"/>
            <a:ext cx="182880" cy="237744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548640" y="1956816"/>
            <a:ext cx="26517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71.6</a:t>
            </a: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" y="279806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XML 파서로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열리지 않는 원문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1719072"/>
            <a:ext cx="1219810" cy="23774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 flipV="1">
            <a:off x="4603090" y="1719072"/>
            <a:ext cx="182880" cy="237744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3383280" y="1956816"/>
            <a:ext cx="26517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82,227</a:t>
            </a: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66160" y="279806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미이스케이프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1,050 / 1,051 문서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719072"/>
            <a:ext cx="1219810" cy="23774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 flipV="1">
            <a:off x="7437730" y="1719072"/>
            <a:ext cx="182880" cy="237744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217920" y="1956816"/>
            <a:ext cx="26517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41,386</a:t>
            </a: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0" y="279806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속 리터럴 &lt;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태그를 만든다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52560" y="1719072"/>
            <a:ext cx="1219810" cy="23774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 flipV="1">
            <a:off x="10272370" y="1719072"/>
            <a:ext cx="182880" cy="237744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9052560" y="1956816"/>
            <a:ext cx="26517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2354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1,469</a:t>
            </a:r>
            <a:r>
              <a:rPr lang="en-US" sz="17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235440" y="279806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확장자만 .xml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 HTML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68496"/>
            <a:ext cx="11100816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59536" y="41330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조사로 확인한 데이터 특성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" y="4498848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 파일은 charset=euc-kr을 선언하지만 실제 바이트는 UTF-8이다 — 선언이 아니라 바이트로 판정한다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4종의 형식이 다르다 — XBRL ACODE 보유율이 정기공시 99.7% 대 거래소 0%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셀이 TD가 아니라 TE·TU다 — XBRL 서식 전용 태그를 함께 읽는다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계정이 연결 / 별도 두 벌로 실린다 — 한글 라벨이 아니라 XBRL 축으로 가른다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목록 22,980건 대 원문 4,204건 — 목록에만 있는 유형은 '언제 무슨 공시를 냈다'까지만 답할 수 있다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③ 일반 RAG의 한계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청킹·임베딩만으로는 닿지 않는 네 지점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110081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59536" y="186537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못 고른다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55264" y="184708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정기공시 한 문서에 표가 중앙값 1,335개다. 셀 내용이 같은 표가 여럿이라 '충당부채'로 검색하면 연결·별도·부문별이 섞여 나온다.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0" y="2121408"/>
            <a:ext cx="32918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979408" y="186537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경로로 표를 확정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1110081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859536" y="292608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/ 별도를 뒤바꾼다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55264" y="290779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계정이 연결·별도 두 벌로 실린다. 한글 라벨은 둘을 구분하지 않는다.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3920" y="3182112"/>
            <a:ext cx="32918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979408" y="292608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 ACONTEXT 축을 읽음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58768"/>
            <a:ext cx="1110081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59536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낡은 값을 답한다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55264" y="396849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거래소공시는 원본 838건에 정정본이 631건이다. 정정을 무시하면 계약 질의의 상당수가 옛 값이 된다.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4242816"/>
            <a:ext cx="32918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8979408" y="398678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체인으로 유효본 확정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110081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59536" y="50474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것을 지어낸다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55264" y="502920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목록에만 있고 원문이 없는 유형이 8,664건(임원·주요주주 특정증권)에 이른다.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0" y="5303520"/>
            <a:ext cx="32918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8979408" y="50474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부재를 부재로 답하게 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834640" y="6053328"/>
            <a:ext cx="6492240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2834640" y="61447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천장은 81%</a:t>
            </a:r>
            <a:r>
              <a:rPr lang="en-US" sz="12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그중 10%p는 애초에 검색으로 풀 문제가 아니었다 — 정본표·정형공시가 답이다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인식과 해결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대비 — 모든 문제를 전수로 계량하고, 해결 결과도 전수로 검증했다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00784"/>
            <a:ext cx="11100816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13232" y="1883664"/>
            <a:ext cx="10771632" cy="4572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69264" y="188366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188366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(전수 실측)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58384" y="188366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73568" y="188366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(전수 검증)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2432304"/>
            <a:ext cx="10771632" cy="621792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822960" y="2615184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69264" y="2432304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XML 파서로 열리지 않는다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310128" y="246888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71.6%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310128" y="27614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4,616 중 3,307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688336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358384" y="2432304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파서로 읽는다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973568" y="2468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4,204건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45168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전건 파싱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22960" y="3273552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969264" y="3090672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문서에 표가 너무 많다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3310128" y="31272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1,335개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310128" y="341985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정기공시 문서당 중앙값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3346704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5358384" y="309067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34종으로 확정한다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973568" y="3127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345168" y="3127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70사 전사 도달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13232" y="3749040"/>
            <a:ext cx="10771632" cy="621792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822960" y="3931920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969264" y="3749040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/ 별도가 섞여 실린다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3310128" y="37856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2벌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3310128" y="40782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계정이 두 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4005072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5358384" y="374904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 축으로 가른다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7973568" y="37856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70사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345168" y="37856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= 부채 + 자본 검증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22960" y="4590288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969264" y="4407408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정정이 반영되지 않는다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3310128" y="44439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1,004건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3310128" y="47365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거래소공시는 43%가 정정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663440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358384" y="440740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필드로 체인을 만든다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7973568" y="44439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99.9%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9345168" y="4443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1,003 / 1,004 연결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713232" y="5065776"/>
            <a:ext cx="10771632" cy="621792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Shape 48"/>
          <p:cNvSpPr/>
          <p:nvPr/>
        </p:nvSpPr>
        <p:spPr>
          <a:xfrm>
            <a:off x="822960" y="5248656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969264" y="5065776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원문이 없는 공시 유형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3310128" y="5102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22,980 ↔ 4,204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3310128" y="53949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대비 원문 보유 18.3%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0" y="5321808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5358384" y="506577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계수 45종을 분리한다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7973568" y="5102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9345168" y="51023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22,980건 전건 계수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822960" y="5907024"/>
            <a:ext cx="54864" cy="256032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69264" y="5724144"/>
            <a:ext cx="2432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답변 위험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3310128" y="576072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3310128" y="60533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· 역할 이탈 · 전망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0" y="5980176"/>
            <a:ext cx="219456" cy="128016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Text 61"/>
          <p:cNvSpPr/>
          <p:nvPr/>
        </p:nvSpPr>
        <p:spPr>
          <a:xfrm>
            <a:off x="5358384" y="5724144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4층 검증 관문을 둔다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7973568" y="5760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40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9345168" y="5760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유출 · 금지 6/6 거절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결정론 층 — 질의가 닿을 사실의 축을 코드로 미리 확정한다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2651760" cy="42611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2651760" cy="457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2798064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경로 + 셀 시그니처로 표를 하나로 못 박는다. 회사별 예외 27건은 핀으로 손으로 확정했다.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228600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3159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employees 70/70사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affiliates 70/70사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unbilled 56/70사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 22/70사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1719072"/>
            <a:ext cx="2651760" cy="42611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3383280" y="1719072"/>
            <a:ext cx="2651760" cy="45720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56616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정형공시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3,150건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2798064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서식이 고정인 공시. 스키마를 손으로 적지 않고 라벨 등장률로 코퍼스에서 유도했다.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4206240"/>
            <a:ext cx="228600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566160" y="43159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주요사항 598건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 1,469건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 1,083건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링크율 100%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1719072"/>
            <a:ext cx="2651760" cy="42611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217920" y="1719072"/>
            <a:ext cx="2651760" cy="45720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체인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1,004건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2798064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정정본이 원공시를 스스로 지목한다. 링크 필드를 읽어 체인을 만들고 유효본을 고른다.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206240"/>
            <a:ext cx="228600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400800" y="43159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성공 99.9%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 정정 631건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diff는 공시가 적은 표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규칙 ②·⑨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1719072"/>
            <a:ext cx="2651760" cy="42611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9052560" y="1719072"/>
            <a:ext cx="2651760" cy="45720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923544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공시유형 계수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35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45종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235440" y="2798064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원문이 없어도 '언제 무슨 공시를 냈다'는 확실하다. 원본·정정·전체를 나눠 준다.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2286000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235440" y="43159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2023-01 ~ 2026-12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22,980건 = 100%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/ 정정 분리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0건도 답이다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144768"/>
            <a:ext cx="1110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층이 모두 비면 BM25 검색으로 내려간다 — 검색은 마지막 수단이고 첫 수단이 아니다.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기법 ① 정본표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하나로 확정한다 — 셀 내용이 아니라 섹션 경로로 못 박는다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6858000" cy="4261104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402336" cy="402336"/>
          </a:xfrm>
          <a:prstGeom prst="ellipse">
            <a:avLst/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975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어휘 매칭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89888" y="22677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트리거로 어떤 정본표가 걸리는지 정한다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816352"/>
            <a:ext cx="402336" cy="402336"/>
          </a:xfrm>
          <a:prstGeom prst="ellipse">
            <a:avLst/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2761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경로 필터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89888" y="3054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재무 &gt; 17. 충당부채 (연결) — 경로에 (연결)이 있으면 별도 주석이 진다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602736"/>
            <a:ext cx="402336" cy="402336"/>
          </a:xfrm>
          <a:prstGeom prst="ellipse">
            <a:avLst/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시그니처 검사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89888" y="3840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표만 가진 열 조합을 요구한다 — 증감표는 '처분'이 있고 누계액표엔 없다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389120"/>
            <a:ext cx="402336" cy="402336"/>
          </a:xfrm>
          <a:prstGeom prst="ellipse">
            <a:avLst/>
          </a:prstGeom>
          <a:solidFill>
            <a:srgbClr val="F265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89888" y="4334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 fail-closed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89888" y="46268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산술 불변식·비중 역산이 깨지면 다음 후보로, 전부 실패하면 값을 내지 않는다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175504"/>
            <a:ext cx="402336" cy="402336"/>
          </a:xfrm>
          <a:prstGeom prst="ellipse">
            <a:avLst/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5120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재정렬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89888" y="5413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부른 이름의 열을 앞으로 — 모델은 행의 마지막 열을 읽는 경향이 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719072"/>
            <a:ext cx="4059936" cy="4261104"/>
          </a:xfrm>
          <a:prstGeom prst="roundRect">
            <a:avLst>
              <a:gd name="adj" fmla="val 2252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7882128" y="19568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fail-closed 검증 — 70사 전수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82128" y="2359152"/>
            <a:ext cx="3529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시그니처가 맞는데도 검증이 값을 막은 사례를 70사 전수로 뽑아 8건 전부 원문과 대조했다. 모두 다른 표였다 — 검증이 정확히 걸러냈다.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82128" y="34564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신한지주 · 삼성생명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82128" y="373075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후보표가 사업 개요 설명표였다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82128" y="43159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현대모비스 · SK텔레콤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82128" y="45902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후보표가 투자금액 표였다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82128" y="5230368"/>
            <a:ext cx="3529584" cy="18288"/>
          </a:xfrm>
          <a:prstGeom prst="rect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7882128" y="53400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모두 정확히 걸러냈다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기법 ② 정정공시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35024"/>
            <a:ext cx="1110081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41248" y="133502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 테크세션 요구사항   </a:t>
            </a:r>
            <a:r>
              <a:rPr lang="en-US" sz="1120" i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"원공시 이후 정정공시가 발생하면 변경된 내용을 원공시와 연결하여 업데이트 필요 · 정정공시 관리 테이블을 별도 구성하여 에이전트가 정정 여부를 확인하도록 설계"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48640" y="2048256"/>
            <a:ext cx="3401568" cy="393192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2231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— 전수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문서군                원본      정정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" y="2798064"/>
            <a:ext cx="2926080" cy="329184"/>
          </a:xfrm>
          <a:prstGeom prst="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59536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8163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44368" y="28163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3182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주요사항보고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1821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44368" y="3182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정기공시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5478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4436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159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913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지분공시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1,042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44368" y="39136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44398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거래소공시는 43%가 정정본이다.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718304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정정을 무시하면 계약 질의의 상당수가 낡은 값을 답한다.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303520"/>
            <a:ext cx="2871216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22960" y="5358384"/>
            <a:ext cx="2871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30" i="1" dirty="0">
                <a:solidFill>
                  <a:srgbClr val="5A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 — 삼성전자 단일판매·공급계약에서 계약상대가 '글로벌 대형기업' → '테슬라'로 정정됐다.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133088" y="2048256"/>
            <a:ext cx="751636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4425696" y="2231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잇나 — 추정하지 않는다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25696" y="2660904"/>
            <a:ext cx="137160" cy="137160"/>
          </a:xfrm>
          <a:prstGeom prst="donu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4663440" y="25968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문서군마다 기준기간이 다르다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2871216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거래소공시는 기준연월 필드가 비어 있어 (기업·유형·기간) 그룹핑으로는 원공시를 특정할 수 없다.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425696" y="3447288"/>
            <a:ext cx="137160" cy="137160"/>
          </a:xfrm>
          <a:prstGeom prst="donu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4663440" y="3383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정정본이 원공시를 지목한다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63440" y="365760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서식에 링크 필드가 있다. 거래소는 '정정관련 공시서류제출일'(631/631), 주요사항·지분·정기는 '정정대상 공시서류의 최초제출일'(372/373).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425696" y="4233672"/>
            <a:ext cx="137160" cy="137160"/>
          </a:xfrm>
          <a:prstGeom prst="donu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663440" y="4169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1,004건 중 1,003건 연결 (99.9%)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663440" y="444398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근거가 없는 1건은 시간 근접으로 추정하지 않는다 — 틀린 연결은 계약상대를 엉뚱한 계약에 붙인다.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4425696" y="5020056"/>
            <a:ext cx="137160" cy="137160"/>
          </a:xfrm>
          <a:prstGeom prst="donu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4663440" y="4956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diff는 우리가 만들지 않는다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663440" y="5230368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문서가 '정정항목 / 정정전 / 정정후'를 표로 적어 둔다. 두 문서를 우리가 비교하면 서식 차이까지 변경으로 잡는다.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4425696" y="5687568"/>
            <a:ext cx="700430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4425696" y="5760720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이력 조회 도구</a:t>
            </a: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체인 [원본 … 최신정정] · 유효본 · 정정항목 diff · 계수를 함께 준다     </a:t>
            </a:r>
            <a:r>
              <a:rPr lang="en-US" sz="105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규칙 ② ⑨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 0 (Python 표준 라이브러리) · LLM은 어댑터 뒤에 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0078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700784"/>
            <a:ext cx="228600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17520" y="171907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/answer?question_id=&amp;question=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5필드 : question_id · question · retrieved_context · think_trace · answer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48640" y="243230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2286000" cy="6400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48640" y="24323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루프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2450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제어 — 도구 선택 · 기간 / 분기 라우팅 · 관측 예산 배분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검증 관문 — 근거 · 정책 · 역할 4층 검사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2286000" cy="6400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1638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12종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318211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resolve_company · list_filings · get_financials · financial_series · find_tables · find_sections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list_sections · calculate · compare_companies · correction_history · sector_ranking · sector_peers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48640" y="389534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548640" y="3895344"/>
            <a:ext cx="2286000" cy="64008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548640" y="38953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추출층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17520" y="391363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34종 · 정본섹션 4종 · 정정 체인 · 공시유형 계수 45종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 개념 32종 · 공시 목록 조회 · 답변 검증 · BM25 검색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48640" y="462686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548640" y="4626864"/>
            <a:ext cx="2286000" cy="64008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48640" y="46268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접근층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17520" y="464515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기업·문서 색인 (NFC 정규화) · 원문 로더 (인코딩 3단 폴백)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파서 (스트리밍 방식) · 정형공시 배치 3,150건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48640" y="5358384"/>
            <a:ext cx="1110081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548640" y="5358384"/>
            <a:ext cx="2286000" cy="640080"/>
          </a:xfrm>
          <a:prstGeom prst="rect">
            <a:avLst/>
          </a:prstGeom>
          <a:solidFill>
            <a:srgbClr val="6B7794"/>
          </a:solidFill>
          <a:ln w="12700">
            <a:solidFill>
              <a:srgbClr val="6B779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548640" y="53583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(읽기 전용)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017520" y="537667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70사 · 원문 4,204문서 / XML 4,616파일 / 5.5GB · 공시목록 22,980건 · 정정본 1,004건</a:t>
            </a:r>
            <a:endParaRPr lang="en-US" sz="102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호출 없음 — 네트워크 라이브러리를 쓰지 않는다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48640" y="6144768"/>
            <a:ext cx="1110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— 서빙 전에 채운다 :  정본표 1,190파일 (콜드 98.5초 → 66.1초) · 정형공시 3,150건 · PDF 표 3건 (첫 질의 120.9초 → 4.4초)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흐름도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— 질의 1건이 답변이 되기까지 · 어느 경로로 가든 안전하게 끝난다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00784"/>
            <a:ext cx="11100816" cy="473659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1700784" cy="822960"/>
          </a:xfrm>
          <a:prstGeom prst="roundRect">
            <a:avLst>
              <a:gd name="adj" fmla="val 15556"/>
            </a:avLst>
          </a:prstGeom>
          <a:solidFill>
            <a:srgbClr val="1B2A5E"/>
          </a:solidFill>
          <a:ln>
            <a:solidFill>
              <a:srgbClr val="1B2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수신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33472" y="3044952"/>
            <a:ext cx="310896" cy="0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017520" y="2231136"/>
            <a:ext cx="1828800" cy="1627632"/>
          </a:xfrm>
          <a:prstGeom prst="flowChartDecision">
            <a:avLst/>
          </a:prstGeom>
          <a:solidFill>
            <a:srgbClr val="F26522"/>
          </a:solidFill>
          <a:ln>
            <a:solidFill>
              <a:srgbClr val="F265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층에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걸리나?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2231136"/>
            <a:ext cx="1828800" cy="1627632"/>
          </a:xfrm>
          <a:prstGeom prst="flowChartDecision">
            <a:avLst/>
          </a:prstGeom>
          <a:solidFill>
            <a:srgbClr val="F26522"/>
          </a:solidFill>
          <a:ln>
            <a:solidFill>
              <a:srgbClr val="F265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정정본이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있나?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0" y="2231136"/>
            <a:ext cx="1828800" cy="1627632"/>
          </a:xfrm>
          <a:prstGeom prst="flowChartDecision">
            <a:avLst/>
          </a:prstGeom>
          <a:solidFill>
            <a:srgbClr val="F26522"/>
          </a:solidFill>
          <a:ln>
            <a:solidFill>
              <a:srgbClr val="F265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검증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6048" y="3044952"/>
            <a:ext cx="365760" cy="0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901184" y="27249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33488" y="3044952"/>
            <a:ext cx="365760" cy="0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278624" y="27249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10928" y="3044952"/>
            <a:ext cx="365760" cy="0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56064" y="27249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49840" y="2633472"/>
            <a:ext cx="1371600" cy="822960"/>
          </a:xfrm>
          <a:prstGeom prst="roundRect">
            <a:avLst>
              <a:gd name="adj" fmla="val 15556"/>
            </a:avLst>
          </a:prstGeom>
          <a:solidFill>
            <a:srgbClr val="1B2A5E"/>
          </a:solidFill>
          <a:ln>
            <a:solidFill>
              <a:srgbClr val="1B2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+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인용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3895344"/>
            <a:ext cx="0" cy="786384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4023360" y="4096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07792" y="4736592"/>
            <a:ext cx="2048256" cy="512064"/>
          </a:xfrm>
          <a:prstGeom prst="roundRect">
            <a:avLst>
              <a:gd name="adj" fmla="val 14286"/>
            </a:avLst>
          </a:prstGeom>
          <a:solidFill>
            <a:srgbClr val="00C46A"/>
          </a:solidFill>
          <a:ln>
            <a:solidFill>
              <a:srgbClr val="00C4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검색으로 폴백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71216" y="532180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정본표·정형공시·계수가</a:t>
            </a:r>
            <a:endParaRPr lang="en-US" sz="98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비면 원문을 검색한다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309360" y="3895344"/>
            <a:ext cx="0" cy="786384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400800" y="4096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4736592"/>
            <a:ext cx="2048256" cy="512064"/>
          </a:xfrm>
          <a:prstGeom prst="roundRect">
            <a:avLst>
              <a:gd name="adj" fmla="val 14286"/>
            </a:avLst>
          </a:prstGeom>
          <a:solidFill>
            <a:srgbClr val="00C46A"/>
          </a:solidFill>
          <a:ln>
            <a:solidFill>
              <a:srgbClr val="00C4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유효본으로 교체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48656" y="532180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체인에서 최신 정정본을</a:t>
            </a:r>
            <a:endParaRPr lang="en-US" sz="98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골라 원공시에 반영한다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686800" y="3895344"/>
            <a:ext cx="0" cy="786384"/>
          </a:xfrm>
          <a:prstGeom prst="line">
            <a:avLst/>
          </a:prstGeom>
          <a:noFill/>
          <a:ln w="22225">
            <a:solidFill>
              <a:srgbClr val="6E7885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778240" y="4096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62672" y="4736592"/>
            <a:ext cx="2048256" cy="512064"/>
          </a:xfrm>
          <a:prstGeom prst="roundRect">
            <a:avLst>
              <a:gd name="adj" fmla="val 14286"/>
            </a:avLst>
          </a:prstGeom>
          <a:solidFill>
            <a:srgbClr val="00C46A"/>
          </a:solidFill>
          <a:ln>
            <a:solidFill>
              <a:srgbClr val="00C4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고지 · 답변 폐기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532180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수치는 내보내지 않고</a:t>
            </a:r>
            <a:endParaRPr lang="en-US" sz="98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확인되지 않는다고 답한다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41248" y="4736592"/>
            <a:ext cx="64008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1024128" y="47365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경로가</a:t>
            </a:r>
            <a:endParaRPr lang="en-US" sz="12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답으로 끝난다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4128" y="534009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못 찾으면 지어내지 않고</a:t>
            </a:r>
            <a:endParaRPr lang="en-US" sz="96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부재를 밝힌다. 검증에 걸리면</a:t>
            </a:r>
            <a:endParaRPr lang="en-US" sz="96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그 자리에서 폐기한다.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라우팅과 검증 관문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흐름의 두 축 — 어느 보고서를 볼지 정하는 축과, 무엇을 내보낼지 정하는 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1700784" cy="32918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질의 수신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기업명 해석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통용명 6사 보정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286000" y="2542032"/>
            <a:ext cx="14630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2450592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2450592" y="1737360"/>
            <a:ext cx="1700784" cy="3291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450592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라우팅 주입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78608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연도·분기를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인자에 덧붙인다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187952" y="2542032"/>
            <a:ext cx="14630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4352544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4352544" y="1737360"/>
            <a:ext cx="1700784" cy="32918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352544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도구 실행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→ 정형공시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정정 체인 → 계수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089904" y="2542032"/>
            <a:ext cx="14630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254496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254496" y="1737360"/>
            <a:ext cx="1700784" cy="32918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254496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관측 조립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82512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14,620자 안에서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핵심행 우선 배치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991856" y="2542032"/>
            <a:ext cx="14630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8156448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8156448" y="1737360"/>
            <a:ext cx="1700784" cy="32918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156448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답변 생성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84464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HyperCLOVA X가 서술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준 값만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893808" y="2542032"/>
            <a:ext cx="146304" cy="164592"/>
          </a:xfrm>
          <a:prstGeom prst="rightArrow">
            <a:avLst/>
          </a:prstGeom>
          <a:solidFill>
            <a:srgbClr val="5C79C4"/>
          </a:solidFill>
          <a:ln w="12700">
            <a:solidFill>
              <a:srgbClr val="5C79C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10058400" y="1737360"/>
            <a:ext cx="1700784" cy="1773936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10058400" y="1737360"/>
            <a:ext cx="1700784" cy="329184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10058400" y="17373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관문 통과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186416" y="2212848"/>
            <a:ext cx="1444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4층 검증</a:t>
            </a:r>
            <a:endParaRPr lang="en-US" sz="102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답변 폐기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48640" y="3712464"/>
            <a:ext cx="54498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841248" y="3895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라우팅이 하는 일 — 실측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7824" y="4261104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분기·반기 질의는 보고서 종류와 연도를 함께 라우팅한다 — 2026년 1분기를 물으면 2026년 분기보고서를 본다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기간 표현을 도구 인자에 자동으로 채운다 — 모델이 인자를 빠뜨려도 올바른 보고서에 닿는다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코퍼스에 없는 기간은 라우팅하지 않는다 — 존재하는 보고서로만 답한다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199632" y="3712464"/>
            <a:ext cx="5449824" cy="2286000"/>
          </a:xfrm>
          <a:prstGeom prst="roundRect">
            <a:avLst>
              <a:gd name="adj" fmla="val 4000"/>
            </a:avLst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6492240" y="3895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관문이 막는 것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28816" y="4261104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이탈 · 지시문 유출 (어휘 + SYSTEM 30자 n-gram)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목표주가 · 미래 전망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0회 사실 주장 — 근거 없는 수치를 그 자리에서 폐기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클레임 대조 — 답변의 수치가 관측에 없으면 ungrounded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HyperCLOVA X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CLOVA Studio의 OpenAI 호환 엔드포인트로 붙는다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5431536" cy="42062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41248" y="17190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모델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8600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HCX-005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89504" y="2395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HyperCLOVA 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8712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chat/completions · embeddings · models를 표준 인터페이스 그대로 사용한다.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clovastudio.stream.ntruss.com / v1 / openai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719072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6217920" y="1719072"/>
            <a:ext cx="5431536" cy="42062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510528" y="17190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0528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호출을 한 곳으로 모았다. 나머지 코드에는 모델 분기가 없어, 모델이 바뀌어도 추출·검증·관문은 그대로 동작한다. 임베딩도 같은 경로를 쓴다.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결선 규정(HyperCLOVA X 전용)을 구조로 보장한다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HCX-005를 택한 이유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35478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3547872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86384" y="45537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 지원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4864608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호출과 인자 파싱이 정상 동작한다. 이 에이전트는 12종 도구를 모델이 직접 고르는 구조라 이 기능이 전제 조건이다.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25112" y="4389120"/>
            <a:ext cx="35478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4325112" y="4389120"/>
            <a:ext cx="3547872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4562856" y="45537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공시 도메인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62856" y="4864608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원문의 회계·법률 용어와 서식 표현을 그대로 다룬다. 답변도 원문 표기를 유지한 채 한국어로 서술한다.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101584" y="4389120"/>
            <a:ext cx="35478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8101584" y="4389120"/>
            <a:ext cx="3547872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8339328" y="45537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인터페이스 호환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4864608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엔드포인트를 제공해 도구 스키마·구조화 출력을 그대로 쓴다. 어댑터 한 겹으로 연결이 끝난다.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10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한도 :  RPM 300 · TPM 180,000 ·  429 응답은 전용 백오프와 Retry-After 헤더로 처리한다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체계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안의 독립 경로 — 감사 23종 · 전부 LLM 0회 · 정답을 몰라도 판정된다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6858000" cy="4261104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86384" y="1929384"/>
            <a:ext cx="6382512" cy="6400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96112" y="197510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verify_emp_xml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975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직원표 ↔ 원문 XBRL EMP_* 코드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7510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895건 전수 대조 · 값 일치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96112" y="270662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verify_corr_xml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7066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정정공시 계수 ↔ 원문 TITLE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70662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3,033문서 · 실질 불일치 0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86384" y="3392424"/>
            <a:ext cx="6382512" cy="6400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96112" y="343814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verify_computed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4381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계산합계 불변식 3종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43814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219건 · 위반 0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96112" y="41696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verify_bs_xref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1696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↔ 연결재무상태표 계정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16966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76건 중 74건 장부금액 일치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86384" y="4855464"/>
            <a:ext cx="6382512" cy="6400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96112" y="490118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9011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115축 × 70사 — 값이 실리는가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90118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후보 8건 → 전부 정당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96112" y="55595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감사는 LLM을 호출하지 않는다 — 비용이 들지 않으므로 코드를 고칠 때마다 전수로 돌린다.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589520" y="1719072"/>
            <a:ext cx="4059936" cy="4261104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7882128" y="2011680"/>
            <a:ext cx="137160" cy="137160"/>
          </a:xfrm>
          <a:prstGeom prst="donu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119872" y="195681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없이도 재는 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19872" y="2249424"/>
            <a:ext cx="33284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"질문이 요구하는 값이 관측에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실리는가"는 정답을 몰라도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판정된다. 코퍼스가 담은 115축을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70사 전수로 찔러 커버리지를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측정한다 — 새 주제를 넣자마자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닿는 범위가 수치로 나온다.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82128" y="3968496"/>
            <a:ext cx="35295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7882128" y="4169664"/>
            <a:ext cx="137160" cy="137160"/>
          </a:xfrm>
          <a:prstGeom prst="donu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19872" y="41148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논증을 피한다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19872" y="4407408"/>
            <a:ext cx="3328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파서로 만든 값을 같은 파서로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검증하면 순환 논증이다. 원문 XML은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셀마다 ACODE를 달고 있어 열 이름</a:t>
            </a:r>
            <a:endParaRPr lang="en-US" sz="11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매칭과 무관하게 값을 집을 수 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질의와 실제 답변 — 다섯 가지 유형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73152" cy="78638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값 조회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139696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7922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"이마트의 2025년 직원 현황을 알려줘"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560320" y="21396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인원·평균 근속연수를 표에서 뽑아 접수번호와 함께 답한다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2633472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73152" cy="786384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27066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계수 질의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2B4A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68833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"이마트가 2023~2026년 자기주식취득결정을 몇 번 냈어?"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2560320" y="303580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목록 계수 4건. 원본·정정을 나눠 주고 원문이 없어도 답한다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3529584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73152" cy="786384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822960" y="36027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질의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3931920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FF4B3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358444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"고려아연의 최근 정정신고 내역을 알려줘"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2560320" y="393192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체인에서 유효본을 고르고 정정항목 diff를 그대로 인용한다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8640" y="4425696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73152" cy="78638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2296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질의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4828032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00C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44805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"케이티가 2023년 이후 유상증자를 결정한 적 있어?"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2560320" y="48280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0건임을 밝힌다. 없는 것을 지어내지 않는다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48640" y="5321808"/>
            <a:ext cx="111008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548640" y="5321808"/>
            <a:ext cx="73152" cy="7863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22960" y="5394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질의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5724144"/>
            <a:ext cx="768096" cy="256032"/>
          </a:xfrm>
          <a:prstGeom prst="roundRect">
            <a:avLst>
              <a:gd name="adj" fmla="val 14286"/>
            </a:avLst>
          </a:prstGeom>
          <a:solidFill>
            <a:srgbClr val="F265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60320" y="537667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"삼성전자의 목표주가는 얼마야?"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2560320" y="572414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코퍼스에 주가·시세가 없어 밸류에이션은 산출하지 않는다고 거절한다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48640" y="6236208"/>
            <a:ext cx="1110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 모두 실제로 돌려 답변을 확인했다  —  </a:t>
            </a:r>
            <a:r>
              <a:rPr lang="en-US" sz="115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밖 40문항 점검에서 금지 질의 6/6 거절 · 지시문 유출 0/40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확정한 새 정답셋 73문항에서 38.4% → 71.2%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6858000" cy="3145536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10" name="Chart 0"/>
          <p:cNvGraphicFramePr/>
          <p:nvPr/>
        </p:nvGraphicFramePr>
        <p:xfrm>
          <a:off x="658368" y="1828800"/>
          <a:ext cx="6638544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589520" y="1719072"/>
            <a:ext cx="405993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9"/>
          <p:cNvSpPr/>
          <p:nvPr/>
        </p:nvSpPr>
        <p:spPr>
          <a:xfrm>
            <a:off x="7827264" y="179222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 / 115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418320" y="179222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4사 전수 97.4%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기준선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0" y="2816352"/>
            <a:ext cx="405993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/>
          <p:cNvSpPr/>
          <p:nvPr/>
        </p:nvSpPr>
        <p:spPr>
          <a:xfrm>
            <a:off x="7827264" y="288950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418320" y="288950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지표 개선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회차 전수 재채점으로 검증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89520" y="3913632"/>
            <a:ext cx="4059936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7827264" y="398678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40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418320" y="398678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밖 점검</a:t>
            </a:r>
            <a:endParaRPr lang="en-US" sz="10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유출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10081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/>
          <p:nvPr/>
        </p:nvSpPr>
        <p:spPr>
          <a:xfrm>
            <a:off x="859536" y="51755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4A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 — 총점 하나로 판정하지 않는다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96112" y="55046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변경마다 전체 문항의 관측을 전수로 대조한다 — 겨냥한 문항이 좋아져도 다른 문항에서 잃는 것이 있으면 채택하지 않는다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유형별로 갈라 본다 — 계수형 · 수치형 · 텍스트형 · 부재형을 각각 재고, 한 축의 개선이 다른 축을 무너뜨리지 않는지 확인한다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채점기 자체도 전 회차 전수 재채점으로 검증한다 — 지표를 고칠 때마다 과거 답변에 다시 적용해 판정이 뒤집히지 않는지 본다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87782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412480" cy="118872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 flipV="1">
            <a:off x="8412480" y="877824"/>
            <a:ext cx="658368" cy="310896"/>
          </a:xfrm>
          <a:prstGeom prst="rtTriangl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48640" y="20116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0" y="4389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167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능력은 코드가 아니라 선언으로 늘어난다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3547872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86384" y="166420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 추가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176272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정의 한 줄 — 섹션 · 셀 시그니처 ·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핵심행 · 트리거를 선언하면 새 주제가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붙는다. 코드를 고치지 않는다.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" y="3200400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86384" y="3346704"/>
            <a:ext cx="64008" cy="1828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87552" y="32918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18종 → 34종 · 기존 표 값 불변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1664208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4325112" y="1664208"/>
            <a:ext cx="3547872" cy="40233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4562856" y="166420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62856" y="2176272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 한 곳에서 바꾼다.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코드에는 모델 분기가 없어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· 검증 · 관문이 그대로 동작한다.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62856" y="3200400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562856" y="3346704"/>
            <a:ext cx="64008" cy="18288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764024" y="32918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결선 규정을 구조로 보장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01584" y="1664208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8101584" y="1664208"/>
            <a:ext cx="3547872" cy="402336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339328" y="166420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확장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39328" y="2176272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레지스트리에 등록하면 끝이다.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개수는 정확도가 유지되는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범위로 관리한다.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39328" y="3200400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8339328" y="3346704"/>
            <a:ext cx="64008" cy="18288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540496" y="32918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 · BFCL 벤치마크 근거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13632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48640" y="3913632"/>
            <a:ext cx="3547872" cy="402336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86384" y="39136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확장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" y="4425696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· 기간 · 문서종류가 늘어도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손으로 적지 않는다. 필드는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등장률로 코퍼스에서 유도한다.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" y="5449824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786384" y="5596128"/>
            <a:ext cx="64008" cy="18288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87552" y="554126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정형공시 3,150건 자동 유도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25112" y="3913632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4325112" y="3913632"/>
            <a:ext cx="3547872" cy="402336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562856" y="39136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규칙 확장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62856" y="4425696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필드를 하나 더 등록하면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서식의 정정도 이어진다.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근거가 없으면 추정하지 않는다.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62856" y="5449824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4562856" y="5596128"/>
            <a:ext cx="64008" cy="182880"/>
          </a:xfrm>
          <a:prstGeom prst="rect">
            <a:avLst/>
          </a:prstGeom>
          <a:solidFill>
            <a:srgbClr val="FF4B33"/>
          </a:solidFill>
          <a:ln w="12700">
            <a:solidFill>
              <a:srgbClr val="FF4B33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4764024" y="554126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필드 2종 · 연결 99.9%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01584" y="3913632"/>
            <a:ext cx="3547872" cy="204825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8101584" y="3913632"/>
            <a:ext cx="3547872" cy="402336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8339328" y="39136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확장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39328" y="4425696"/>
            <a:ext cx="30723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스크립트를 하나 더 놓으면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감사에 편입된다. 전부 LLM을</a:t>
            </a:r>
            <a:endParaRPr lang="en-US" sz="10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호출하지 않아 비용이 들지 않는다.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39328" y="5449824"/>
            <a:ext cx="3072384" cy="18288"/>
          </a:xfrm>
          <a:prstGeom prst="rect">
            <a:avLst/>
          </a:prstGeom>
          <a:solidFill>
            <a:srgbClr val="DCDFE4"/>
          </a:solidFill>
          <a:ln w="1270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Shape 47"/>
          <p:cNvSpPr/>
          <p:nvPr/>
        </p:nvSpPr>
        <p:spPr>
          <a:xfrm>
            <a:off x="8339328" y="5596128"/>
            <a:ext cx="64008" cy="182880"/>
          </a:xfrm>
          <a:prstGeom prst="rect">
            <a:avLst/>
          </a:prstGeom>
          <a:solidFill>
            <a:srgbClr val="2B4A9B"/>
          </a:solidFill>
          <a:ln w="12700">
            <a:solidFill>
              <a:srgbClr val="2B4A9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8540496" y="554126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23종 · LLM 0회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272784"/>
            <a:ext cx="1110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· 모델 · 도구 · 검증 네 축이 모두 선언으로 늘어난다 — 새 요구가 와도 구조를 바꾸지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310896"/>
          </a:xfrm>
          <a:prstGeom prst="rect">
            <a:avLst/>
          </a:prstGeom>
          <a:solidFill>
            <a:srgbClr val="23386F"/>
          </a:solidFill>
          <a:ln w="12700">
            <a:solidFill>
              <a:srgbClr val="23386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9509760" y="566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509760" y="859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미래에셋증권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86384" y="1645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F26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제안의 한 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048256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데이터는 정직하게 어렵다.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수치는 코드가 확정하고,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HyperCLOVA X는 서술만 쓴다.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86384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D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불가는 "공시에서 확인되지 않습니다"라고 답한다 — 정직한 부재가 그럴듯한 오추출보다 낫다.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6384" y="4718304"/>
            <a:ext cx="54864" cy="7863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87552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7552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4718304"/>
            <a:ext cx="54864" cy="7863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75888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1,004건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75888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체인 99.9%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4718304"/>
            <a:ext cx="54864" cy="7863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364224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64224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0회 감사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51392" y="4718304"/>
            <a:ext cx="54864" cy="78638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052560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52560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호출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항목 :  소스코드 + 재현 환경 정의 · 기술제안서 · 평가용 API 서버 (GET /answer)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2906</Words>
  <Application>Microsoft Macintosh PowerPoint</Application>
  <PresentationFormat>Widescreen</PresentationFormat>
  <Paragraphs>502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공시 Agent 기술제안서</dc:title>
  <dc:subject>PptxGenJS Presentation</dc:subject>
  <dc:creator>공시 Agent 팀</dc:creator>
  <cp:lastModifiedBy>이재성</cp:lastModifiedBy>
  <cp:revision>1</cp:revision>
  <dcterms:created xsi:type="dcterms:W3CDTF">2026-08-24T10:53:57Z</dcterms:created>
  <dcterms:modified xsi:type="dcterms:W3CDTF">2026-08-24T10:57:40Z</dcterms:modified>
</cp:coreProperties>
</file>